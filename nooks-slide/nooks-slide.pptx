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0116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TIGERCONNECT   ·   BDR TOOL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57200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One AI platform for the BDR team — not a stack of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97840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Consolidate prospecting, dialing, sequencing, and AI coaching into Nooks — the platform our reps already work in every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481328"/>
            <a:ext cx="3886200" cy="13350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" y="1517904"/>
            <a:ext cx="64008" cy="1261872"/>
          </a:xfrm>
          <a:prstGeom prst="rect">
            <a:avLst/>
          </a:prstGeom>
          <a:solidFill>
            <a:srgbClr val="2F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27632"/>
            <a:ext cx="3429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F63B4"/>
                </a:solidFill>
                <a:latin typeface="Arial"/>
              </a:rPr>
              <a:t>THE 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F3A66"/>
                </a:solidFill>
                <a:latin typeface="Arial"/>
              </a:rPr>
              <a:t>Give 5 BDRs one place to do all their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5657A"/>
                </a:solidFill>
                <a:latin typeface="Arial"/>
              </a:rPr>
              <a:t>Reps find accounts, dial, sequence, and get coached </a:t>
            </a:r>
            <a:r>
              <a:rPr sz="1100" b="1" i="0">
                <a:solidFill>
                  <a:srgbClr val="1F2A37"/>
                </a:solidFill>
                <a:latin typeface="Arial"/>
              </a:rPr>
              <a:t>in a single tool</a:t>
            </a:r>
            <a:r>
              <a:rPr sz="1100" b="0" i="0">
                <a:solidFill>
                  <a:srgbClr val="55657A"/>
                </a:solidFill>
                <a:latin typeface="Arial"/>
              </a:rPr>
              <a:t>. No tab-hopping, no copy-paste, no lost context — more time actually selling.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2926080"/>
            <a:ext cx="3886200" cy="151790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" y="2962656"/>
            <a:ext cx="64008" cy="1444751"/>
          </a:xfrm>
          <a:prstGeom prst="rect">
            <a:avLst/>
          </a:prstGeom>
          <a:solidFill>
            <a:srgbClr val="43C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54096"/>
            <a:ext cx="3429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F9E6E"/>
                </a:solidFill>
                <a:latin typeface="Arial"/>
              </a:rPr>
              <a:t>✦ ALREADY INVESTED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F3A66"/>
                </a:solidFill>
                <a:latin typeface="Arial"/>
              </a:rPr>
              <a:t>We're not starting from scratch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5657A"/>
                </a:solidFill>
                <a:latin typeface="Arial"/>
              </a:rPr>
              <a:t>The team already runs on </a:t>
            </a:r>
            <a:r>
              <a:rPr sz="1100" b="1" i="0">
                <a:solidFill>
                  <a:srgbClr val="1F2A37"/>
                </a:solidFill>
                <a:latin typeface="Arial"/>
              </a:rPr>
              <a:t>AI Dialer + Nooks numbers + AI Prospector</a:t>
            </a:r>
            <a:r>
              <a:rPr sz="1100" b="0" i="0">
                <a:solidFill>
                  <a:srgbClr val="55657A"/>
                </a:solidFill>
                <a:latin typeface="Arial"/>
              </a:rPr>
              <a:t> today, with live workflows built around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5657A"/>
                </a:solidFill>
                <a:latin typeface="Arial"/>
              </a:rPr>
              <a:t>→ Nooks is merging </a:t>
            </a:r>
            <a:r>
              <a:rPr sz="1100" b="1" i="0">
                <a:solidFill>
                  <a:srgbClr val="1F2A37"/>
                </a:solidFill>
                <a:latin typeface="Arial"/>
              </a:rPr>
              <a:t>Prospector into its Sequencing product</a:t>
            </a:r>
            <a:r>
              <a:rPr sz="1100" b="0" i="0">
                <a:solidFill>
                  <a:srgbClr val="55657A"/>
                </a:solidFill>
                <a:latin typeface="Arial"/>
              </a:rPr>
              <a:t> — adopting Sequencing is the natural next step, not a new vendor.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45720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F63B4"/>
                </a:solidFill>
                <a:latin typeface="Arial"/>
              </a:rPr>
              <a:t>WHY IT LANDS FOR BDRs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" y="4882896"/>
            <a:ext cx="384048" cy="384048"/>
          </a:xfrm>
          <a:prstGeom prst="ellipse">
            <a:avLst/>
          </a:prstGeom>
          <a:solidFill>
            <a:srgbClr val="2F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3374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3A66"/>
                </a:solidFill>
                <a:latin typeface="Arial"/>
              </a:rPr>
              <a:t>All-in-one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657A"/>
                </a:solidFill>
                <a:latin typeface="Arial"/>
              </a:rPr>
              <a:t>Find, call, and follow up in one place — less admin, more conversations.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448056" y="5449824"/>
            <a:ext cx="384048" cy="384048"/>
          </a:xfrm>
          <a:prstGeom prst="ellipse">
            <a:avLst/>
          </a:prstGeom>
          <a:solidFill>
            <a:srgbClr val="2F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13248"/>
            <a:ext cx="3374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3A66"/>
                </a:solidFill>
                <a:latin typeface="Arial"/>
              </a:rPr>
              <a:t>AI that compounds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657A"/>
                </a:solidFill>
                <a:latin typeface="Arial"/>
              </a:rPr>
              <a:t>Surfaces the right accounts, powers the dialer, coaches reps on live calls.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" y="6016752"/>
            <a:ext cx="384048" cy="384048"/>
          </a:xfrm>
          <a:prstGeom prst="ellipse">
            <a:avLst/>
          </a:prstGeom>
          <a:solidFill>
            <a:srgbClr val="43C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980176"/>
            <a:ext cx="3374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3A66"/>
                </a:solidFill>
                <a:latin typeface="Arial"/>
              </a:rPr>
              <a:t>Feeds Gong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657A"/>
                </a:solidFill>
                <a:latin typeface="Arial"/>
              </a:rPr>
              <a:t>Plugs into the GTM-wide conversation layer — one source of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463040"/>
            <a:ext cx="7205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F63B4"/>
                </a:solidFill>
                <a:latin typeface="Arial"/>
              </a:rPr>
              <a:t>THE FULL PLATFORM COST   ·   ORDER ORD-XHY110Y   ·   SEP 2026 – SEP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1783080"/>
            <a:ext cx="7205472" cy="4425696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782312" y="1993392"/>
          <a:ext cx="6693408" cy="270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  <a:gridCol w="822960"/>
                <a:gridCol w="1051560"/>
                <a:gridCol w="10515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55657A"/>
                          </a:solidFill>
                          <a:latin typeface="Arial"/>
                        </a:rPr>
                        <a:t>LINE ITEM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55657A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55657A"/>
                          </a:solidFill>
                          <a:latin typeface="Arial"/>
                        </a:rPr>
                        <a:t>UNIT / YR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55657A"/>
                          </a:solidFill>
                          <a:latin typeface="Arial"/>
                        </a:rPr>
                        <a:t>ANNUAL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2A37"/>
                          </a:solidFill>
                          <a:latin typeface="Arial"/>
                        </a:rPr>
                        <a:t>AI Dialer — Standard Seat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The dialer reps live in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$3,600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$18,000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2A37"/>
                          </a:solidFill>
                          <a:latin typeface="Arial"/>
                        </a:rPr>
                        <a:t>AI Sequencing — User Seats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Outreach for all 5 reps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$1,440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$7,200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2A37"/>
                          </a:solidFill>
                          <a:latin typeface="Arial"/>
                        </a:rPr>
                        <a:t>AI Sequencing — Admin Seats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Build &amp; manage sequences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$300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$900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2A37"/>
                          </a:solidFill>
                          <a:latin typeface="Arial"/>
                        </a:rPr>
                        <a:t>AI Coaching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Live-call coaching for all 5 reps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$600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$3,000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2A37"/>
                          </a:solidFill>
                          <a:latin typeface="Arial"/>
                        </a:rPr>
                        <a:t>AI Action Credits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Research, enrichment &amp; automation fuel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1.4M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$0.02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$28,000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F9E6E"/>
                          </a:solidFill>
                          <a:latin typeface="Arial"/>
                        </a:rPr>
                        <a:t>Sequencing Implementation Fee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5657A"/>
                          </a:solidFill>
                          <a:latin typeface="Arial"/>
                        </a:rPr>
                        <a:t>One-time setup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F9E6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F9E6E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F9E6E"/>
                          </a:solidFill>
                          <a:latin typeface="Arial"/>
                        </a:rPr>
                        <a:t>WAIVED</a:t>
                      </a:r>
                    </a:p>
                  </a:txBody>
                  <a:tcPr anchor="ctr" marL="45720" marR="45720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782312" y="4828032"/>
            <a:ext cx="6693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657A"/>
                </a:solidFill>
                <a:latin typeface="Arial"/>
              </a:rPr>
              <a:t>List price subtotal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828032"/>
            <a:ext cx="6693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5657A"/>
                </a:solidFill>
                <a:latin typeface="Arial"/>
              </a:rPr>
              <a:t>$67,100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5102352"/>
            <a:ext cx="6693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9E6E"/>
                </a:solidFill>
                <a:latin typeface="Arial"/>
              </a:rPr>
              <a:t>Negotiated discount (implementation waived, 14.9%)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5102352"/>
            <a:ext cx="6693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9E6E"/>
                </a:solidFill>
                <a:latin typeface="Arial"/>
              </a:rPr>
              <a:t>– $10,000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5413248"/>
            <a:ext cx="6693408" cy="658368"/>
          </a:xfrm>
          <a:prstGeom prst="roundRect">
            <a:avLst>
              <a:gd name="adj" fmla="val 12000"/>
            </a:avLst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5504688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Grand total — all-in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9D4E6"/>
                </a:solidFill>
                <a:latin typeface="Arial"/>
              </a:rPr>
              <a:t>5 BDR seats · billed yearly · Net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5468112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$57,100</a:t>
            </a:r>
            <a:r>
              <a:rPr sz="1300" b="1" i="0">
                <a:solidFill>
                  <a:srgbClr val="C9D4E6"/>
                </a:solidFill>
                <a:latin typeface="Arial"/>
              </a:rPr>
              <a:t> / yr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6291072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3C0A8"/>
                </a:solidFill>
                <a:latin typeface="Arial"/>
              </a:rPr>
              <a:t>INVESTMENT  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5 BDR seats   •   $57.1K / year all-in   •   $10K implementation waived   •   live Sep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291072"/>
            <a:ext cx="35112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DACC4"/>
                </a:solidFill>
                <a:latin typeface="Arial"/>
              </a:rPr>
              <a:t>Proprietary &amp; Confidential · Draft ORD-XHY110Y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